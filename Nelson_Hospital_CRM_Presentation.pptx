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097280" cy="9144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91640"/>
            <a:ext cx="10515600" cy="2926080"/>
          </a:xfrm>
          <a:prstGeom prst="rect">
            <a:avLst/>
          </a:prstGeom>
          <a:noFill/>
        </p:spPr>
        <p:txBody>
          <a:bodyPr wrap="square" lIns="0" tIns="0" rIns="0" bIns="0">
            <a:spAutoFit/>
          </a:bodyPr>
          <a:lstStyle/>
          <a:p>
            <a:pPr>
              <a:defRPr sz="4000" b="1">
                <a:solidFill>
                  <a:srgbClr val="F1F5F9"/>
                </a:solidFill>
                <a:latin typeface="Calibri"/>
              </a:defRPr>
            </a:pPr>
            <a:r>
              <a:t>Nelson Hospital</a:t>
            </a:r>
          </a:p>
          <a:p>
            <a:pPr>
              <a:spcBef>
                <a:spcPts val="600"/>
              </a:spcBef>
              <a:defRPr sz="3600" b="1">
                <a:solidFill>
                  <a:srgbClr val="0EA5E9"/>
                </a:solidFill>
                <a:latin typeface="Calibri"/>
              </a:defRPr>
            </a:pPr>
            <a:r>
              <a:t>Healthcare CRM Transformation</a:t>
            </a:r>
          </a:p>
          <a:p>
            <a:pPr>
              <a:spcBef>
                <a:spcPts val="1600"/>
              </a:spcBef>
              <a:defRPr sz="1600">
                <a:solidFill>
                  <a:srgbClr val="94A3B8"/>
                </a:solidFill>
                <a:latin typeface="Calibri"/>
              </a:defRPr>
            </a:pPr>
            <a:r>
              <a:t>Eliminating Lead Leakage • Automating Follow-Ups • Delivering Predictable Patient Conversions</a:t>
            </a:r>
          </a:p>
        </p:txBody>
      </p:sp>
      <p:sp>
        <p:nvSpPr>
          <p:cNvPr id="5" name="Rounded Rectangle 4"/>
          <p:cNvSpPr/>
          <p:nvPr/>
        </p:nvSpPr>
        <p:spPr>
          <a:xfrm>
            <a:off x="731520" y="4937760"/>
            <a:ext cx="1069848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b="1" sz="1300">
                <a:solidFill>
                  <a:srgbClr val="0EA5E9"/>
                </a:solidFill>
              </a:defRPr>
            </a:pPr>
            <a:r>
              <a:t>Strategy &amp; Implementation Proposal</a:t>
            </a:r>
          </a:p>
          <a:p>
            <a:pPr>
              <a:spcBef>
                <a:spcPts val="400"/>
              </a:spcBef>
              <a:defRPr sz="1200">
                <a:solidFill>
                  <a:srgbClr val="CBD5E1"/>
                </a:solidFill>
              </a:defRPr>
            </a:pPr>
            <a:r>
              <a:t>Prepared by: Zappcode Solutions  |  Target: Nelson Hospital Administration, Doctors &amp; Lead Attendants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2004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Calibri"/>
              </a:defRPr>
            </a:pPr>
            <a:r>
              <a:t>CURRENT OPERATIONAL BOTTLENECKS</a:t>
            </a:r>
          </a:p>
        </p:txBody>
      </p:sp>
      <p:sp>
        <p:nvSpPr>
          <p:cNvPr id="4" name="TextBox 3"/>
          <p:cNvSpPr txBox="1"/>
          <p:nvPr/>
        </p:nvSpPr>
        <p:spPr>
          <a:xfrm>
            <a:off x="731520" y="868680"/>
            <a:ext cx="10698480" cy="914400"/>
          </a:xfrm>
          <a:prstGeom prst="rect">
            <a:avLst/>
          </a:prstGeom>
          <a:noFill/>
        </p:spPr>
        <p:txBody>
          <a:bodyPr wrap="square" lIns="0" tIns="0" rIns="0" bIns="0">
            <a:spAutoFit/>
          </a:bodyPr>
          <a:lstStyle/>
          <a:p>
            <a:pPr>
              <a:defRPr sz="2200" b="1">
                <a:solidFill>
                  <a:srgbClr val="0F172A"/>
                </a:solidFill>
                <a:latin typeface="Calibri"/>
              </a:defRPr>
            </a:pPr>
            <a:r>
              <a:t>Where Hospital Revenue &amp; Patient Inquiries Are Leaking</a:t>
            </a:r>
          </a:p>
          <a:p>
            <a:pPr>
              <a:spcBef>
                <a:spcPts val="400"/>
              </a:spcBef>
              <a:defRPr sz="1300">
                <a:solidFill>
                  <a:srgbClr val="64748B"/>
                </a:solidFill>
                <a:latin typeface="Calibri"/>
              </a:defRPr>
            </a:pPr>
            <a:r>
              <a:t>The core issues observed in traditional manual and spreadsheet-based patient tracking</a:t>
            </a:r>
          </a:p>
        </p:txBody>
      </p:sp>
      <p:sp>
        <p:nvSpPr>
          <p:cNvPr id="5" name="Rounded Rectangle 4"/>
          <p:cNvSpPr/>
          <p:nvPr/>
        </p:nvSpPr>
        <p:spPr>
          <a:xfrm>
            <a:off x="731520" y="2011680"/>
            <a:ext cx="525780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b="1" sz="1400">
                <a:solidFill>
                  <a:srgbClr val="0F172A"/>
                </a:solidFill>
              </a:defRPr>
            </a:pPr>
            <a:r>
              <a:t>1. Scattered &amp; Missing Patient Data</a:t>
            </a:r>
          </a:p>
          <a:p>
            <a:pPr>
              <a:spcBef>
                <a:spcPts val="600"/>
              </a:spcBef>
              <a:defRPr sz="1100">
                <a:solidFill>
                  <a:srgbClr val="64748B"/>
                </a:solidFill>
              </a:defRPr>
            </a:pPr>
            <a:r>
              <a:t>Patient leads reside across detached Excel workbooks, paper registers, and staff phone logs.</a:t>
            </a:r>
            <a:br/>
            <a:r>
              <a:t>• Critical contact details and symptoms get lost between shifts.</a:t>
            </a:r>
            <a:br/>
            <a:r>
              <a:t>• No central record exists for a patient's historical inquiry history.</a:t>
            </a:r>
          </a:p>
        </p:txBody>
      </p:sp>
      <p:sp>
        <p:nvSpPr>
          <p:cNvPr id="6" name="Rectangle 5"/>
          <p:cNvSpPr/>
          <p:nvPr/>
        </p:nvSpPr>
        <p:spPr>
          <a:xfrm>
            <a:off x="914400" y="2194560"/>
            <a:ext cx="45720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72200" y="2011680"/>
            <a:ext cx="525780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b="1" sz="1400">
                <a:solidFill>
                  <a:srgbClr val="0F172A"/>
                </a:solidFill>
              </a:defRPr>
            </a:pPr>
            <a:r>
              <a:t>2. Missed &amp; Forgotten Follow-Ups</a:t>
            </a:r>
          </a:p>
          <a:p>
            <a:pPr>
              <a:spcBef>
                <a:spcPts val="600"/>
              </a:spcBef>
              <a:defRPr sz="1100">
                <a:solidFill>
                  <a:srgbClr val="64748B"/>
                </a:solidFill>
              </a:defRPr>
            </a:pPr>
            <a:r>
              <a:t>Telecallers manually manage hundreds of follow-up dates without scheduled reminders.</a:t>
            </a:r>
            <a:br/>
            <a:r>
              <a:t>• High-intent inquiries go cold without timely second and third touches.</a:t>
            </a:r>
            <a:br/>
            <a:r>
              <a:t>• Inability to track whether an inquiry was actually called or abandoned.</a:t>
            </a:r>
          </a:p>
        </p:txBody>
      </p:sp>
      <p:sp>
        <p:nvSpPr>
          <p:cNvPr id="8" name="Rectangle 7"/>
          <p:cNvSpPr/>
          <p:nvPr/>
        </p:nvSpPr>
        <p:spPr>
          <a:xfrm>
            <a:off x="6355080" y="2194560"/>
            <a:ext cx="4572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206240"/>
            <a:ext cx="525780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b="1" sz="1400">
                <a:solidFill>
                  <a:srgbClr val="0F172A"/>
                </a:solidFill>
              </a:defRPr>
            </a:pPr>
            <a:r>
              <a:t>3. Month-End Results Disconnect</a:t>
            </a:r>
          </a:p>
          <a:p>
            <a:pPr>
              <a:spcBef>
                <a:spcPts val="600"/>
              </a:spcBef>
              <a:defRPr sz="1100">
                <a:solidFill>
                  <a:srgbClr val="64748B"/>
                </a:solidFill>
              </a:defRPr>
            </a:pPr>
            <a:r>
              <a:t>Significant marketing spend on campaigns fails to translate to expected OPD footfalls.</a:t>
            </a:r>
            <a:br/>
            <a:r>
              <a:t>• At month-end, reported inquiry volume does not match booked doctor consultations.</a:t>
            </a:r>
            <a:br/>
            <a:r>
              <a:t>• Lack of visibility into where prospects dropped off in the funnel.</a:t>
            </a:r>
          </a:p>
        </p:txBody>
      </p:sp>
      <p:sp>
        <p:nvSpPr>
          <p:cNvPr id="10" name="Rectangle 9"/>
          <p:cNvSpPr/>
          <p:nvPr/>
        </p:nvSpPr>
        <p:spPr>
          <a:xfrm>
            <a:off x="914400" y="4389120"/>
            <a:ext cx="45720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72200" y="4206240"/>
            <a:ext cx="525780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320040"/>
          <a:lstStyle/>
          <a:p>
            <a:pPr algn="ctr">
              <a:defRPr b="1" sz="1400">
                <a:solidFill>
                  <a:srgbClr val="0F172A"/>
                </a:solidFill>
              </a:defRPr>
            </a:pPr>
            <a:r>
              <a:t>4. Source &amp; Attribution Blindness</a:t>
            </a:r>
          </a:p>
          <a:p>
            <a:pPr>
              <a:spcBef>
                <a:spcPts val="600"/>
              </a:spcBef>
              <a:defRPr sz="1100">
                <a:solidFill>
                  <a:srgbClr val="64748B"/>
                </a:solidFill>
              </a:defRPr>
            </a:pPr>
            <a:r>
              <a:t>Management cannot verify which channel drove which patient admission.</a:t>
            </a:r>
            <a:br/>
            <a:r>
              <a:t>• Unable to differentiate organic walk-ins from paid Meta Ads or Health Camps.</a:t>
            </a:r>
            <a:br/>
            <a:r>
              <a:t>• Marketing budget gets allocated blindly without knowing real departmental ROI.</a:t>
            </a:r>
          </a:p>
        </p:txBody>
      </p:sp>
      <p:sp>
        <p:nvSpPr>
          <p:cNvPr id="12" name="Rectangle 11"/>
          <p:cNvSpPr/>
          <p:nvPr/>
        </p:nvSpPr>
        <p:spPr>
          <a:xfrm>
            <a:off x="6355080" y="4389120"/>
            <a:ext cx="45720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2004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Calibri"/>
              </a:defRPr>
            </a:pPr>
            <a:r>
              <a:t>THE SOLUTION ARCHITECTURE</a:t>
            </a:r>
          </a:p>
        </p:txBody>
      </p:sp>
      <p:sp>
        <p:nvSpPr>
          <p:cNvPr id="4" name="TextBox 3"/>
          <p:cNvSpPr txBox="1"/>
          <p:nvPr/>
        </p:nvSpPr>
        <p:spPr>
          <a:xfrm>
            <a:off x="731520" y="868680"/>
            <a:ext cx="10698480" cy="914400"/>
          </a:xfrm>
          <a:prstGeom prst="rect">
            <a:avLst/>
          </a:prstGeom>
          <a:noFill/>
        </p:spPr>
        <p:txBody>
          <a:bodyPr wrap="square" lIns="0" tIns="0" rIns="0" bIns="0">
            <a:spAutoFit/>
          </a:bodyPr>
          <a:lstStyle/>
          <a:p>
            <a:pPr>
              <a:defRPr sz="2200" b="1">
                <a:solidFill>
                  <a:srgbClr val="0F172A"/>
                </a:solidFill>
                <a:latin typeface="Calibri"/>
              </a:defRPr>
            </a:pPr>
            <a:r>
              <a:t>Zappcode Healthcare CRM: Built for Nelson Hospital</a:t>
            </a:r>
          </a:p>
          <a:p>
            <a:pPr>
              <a:spcBef>
                <a:spcPts val="400"/>
              </a:spcBef>
              <a:defRPr sz="1300">
                <a:solidFill>
                  <a:srgbClr val="64748B"/>
                </a:solidFill>
                <a:latin typeface="Calibri"/>
              </a:defRPr>
            </a:pPr>
            <a:r>
              <a:t>A unified digital platform connecting marketing, front desk, telecallers, and doctors</a:t>
            </a:r>
          </a:p>
        </p:txBody>
      </p:sp>
      <p:sp>
        <p:nvSpPr>
          <p:cNvPr id="5" name="Rounded Rectangle 4"/>
          <p:cNvSpPr/>
          <p:nvPr/>
        </p:nvSpPr>
        <p:spPr>
          <a:xfrm>
            <a:off x="731520" y="2011680"/>
            <a:ext cx="34290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defRPr b="1" sz="1500">
                <a:solidFill>
                  <a:srgbClr val="0F172A"/>
                </a:solidFill>
              </a:defRPr>
            </a:pPr>
            <a:r>
              <a:t>Real-Time Automated Capture</a:t>
            </a:r>
          </a:p>
          <a:p>
            <a:pPr>
              <a:spcBef>
                <a:spcPts val="1000"/>
              </a:spcBef>
              <a:defRPr sz="1100">
                <a:solidFill>
                  <a:srgbClr val="64748B"/>
                </a:solidFill>
              </a:defRPr>
            </a:pPr>
            <a:r>
              <a:t>Zero manual entry. Inquiries from Meta Ads, Google campaigns, website forms, and walk-in counters land instantly in the CRM database within seconds.</a:t>
            </a:r>
            <a:br/>
            <a:br/>
            <a:r>
              <a:t>• Instant lead ingestion</a:t>
            </a:r>
            <a:br/>
            <a:r>
              <a:t>• Duplicate mobile number detection</a:t>
            </a:r>
            <a:br/>
            <a:r>
              <a:t>• Notification alerts to counselors</a:t>
            </a:r>
          </a:p>
        </p:txBody>
      </p:sp>
      <p:sp>
        <p:nvSpPr>
          <p:cNvPr id="6" name="Rounded Rectangle 5"/>
          <p:cNvSpPr/>
          <p:nvPr/>
        </p:nvSpPr>
        <p:spPr>
          <a:xfrm>
            <a:off x="1005840" y="2286000"/>
            <a:ext cx="2194560" cy="292608"/>
          </a:xfrm>
          <a:prstGeom prst="roundRect">
            <a:avLst/>
          </a:prstGeom>
          <a:solidFill>
            <a:srgbClr val="F1F5F9"/>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EA5E9"/>
                </a:solidFill>
              </a:defRPr>
            </a:pPr>
            <a:r>
              <a:t>DIRECT API WEBHOOKS</a:t>
            </a:r>
          </a:p>
        </p:txBody>
      </p:sp>
      <p:sp>
        <p:nvSpPr>
          <p:cNvPr id="7" name="Rounded Rectangle 6"/>
          <p:cNvSpPr/>
          <p:nvPr/>
        </p:nvSpPr>
        <p:spPr>
          <a:xfrm>
            <a:off x="4389120" y="2011680"/>
            <a:ext cx="34290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defRPr b="1" sz="1500">
                <a:solidFill>
                  <a:srgbClr val="0F172A"/>
                </a:solidFill>
              </a:defRPr>
            </a:pPr>
            <a:r>
              <a:t>Departmental Segmentation</a:t>
            </a:r>
          </a:p>
          <a:p>
            <a:pPr>
              <a:spcBef>
                <a:spcPts val="1000"/>
              </a:spcBef>
              <a:defRPr sz="1100">
                <a:solidFill>
                  <a:srgbClr val="64748B"/>
                </a:solidFill>
              </a:defRPr>
            </a:pPr>
            <a:r>
              <a:t>Automated routing of patients directly into Nelson's specialized branches and wings.</a:t>
            </a:r>
            <a:br/>
            <a:br/>
            <a:r>
              <a:t>• Neuro Sciences</a:t>
            </a:r>
            <a:br/>
            <a:r>
              <a:t>• Gynaecology &amp; Obstetrics</a:t>
            </a:r>
            <a:br/>
            <a:r>
              <a:t>• Nelson Luxe Care Suites</a:t>
            </a:r>
            <a:br/>
            <a:r>
              <a:t>• Health Camps &amp; General OPD</a:t>
            </a:r>
            <a:br/>
            <a:r>
              <a:t>• Custom medical form fields</a:t>
            </a:r>
          </a:p>
        </p:txBody>
      </p:sp>
      <p:sp>
        <p:nvSpPr>
          <p:cNvPr id="8" name="Rounded Rectangle 7"/>
          <p:cNvSpPr/>
          <p:nvPr/>
        </p:nvSpPr>
        <p:spPr>
          <a:xfrm>
            <a:off x="4663440" y="2286000"/>
            <a:ext cx="2194560" cy="292608"/>
          </a:xfrm>
          <a:prstGeom prst="roundRect">
            <a:avLst/>
          </a:prstGeom>
          <a:solidFill>
            <a:srgbClr val="F1F5F9"/>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2563EB"/>
                </a:solidFill>
              </a:defRPr>
            </a:pPr>
            <a:r>
              <a:t>SPECIALTY-BASED ROUTING</a:t>
            </a:r>
          </a:p>
        </p:txBody>
      </p:sp>
      <p:sp>
        <p:nvSpPr>
          <p:cNvPr id="9" name="Rounded Rectangle 8"/>
          <p:cNvSpPr/>
          <p:nvPr/>
        </p:nvSpPr>
        <p:spPr>
          <a:xfrm>
            <a:off x="8046720" y="2011680"/>
            <a:ext cx="34290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685800"/>
          <a:lstStyle/>
          <a:p>
            <a:pPr algn="ctr">
              <a:defRPr b="1" sz="1500">
                <a:solidFill>
                  <a:srgbClr val="0F172A"/>
                </a:solidFill>
              </a:defRPr>
            </a:pPr>
            <a:r>
              <a:t>End-to-End Patient Journey</a:t>
            </a:r>
          </a:p>
          <a:p>
            <a:pPr>
              <a:spcBef>
                <a:spcPts val="1000"/>
              </a:spcBef>
              <a:defRPr sz="1100">
                <a:solidFill>
                  <a:srgbClr val="64748B"/>
                </a:solidFill>
              </a:defRPr>
            </a:pPr>
            <a:r>
              <a:t>Track every patient from discovery to full recovery across dedicated milestone stages.</a:t>
            </a:r>
            <a:br/>
            <a:br/>
            <a:r>
              <a:t>• New Lead Received</a:t>
            </a:r>
            <a:br/>
            <a:r>
              <a:t>• Telecaller Follow-up</a:t>
            </a:r>
            <a:br/>
            <a:r>
              <a:t>• Doctor OPD Appointment Booked</a:t>
            </a:r>
            <a:br/>
            <a:r>
              <a:t>• Completed Consultation</a:t>
            </a:r>
            <a:br/>
            <a:r>
              <a:t>• In-Patient Admission / Procedure</a:t>
            </a:r>
          </a:p>
        </p:txBody>
      </p:sp>
      <p:sp>
        <p:nvSpPr>
          <p:cNvPr id="10" name="Rounded Rectangle 9"/>
          <p:cNvSpPr/>
          <p:nvPr/>
        </p:nvSpPr>
        <p:spPr>
          <a:xfrm>
            <a:off x="8321040" y="2286000"/>
            <a:ext cx="2194560" cy="292608"/>
          </a:xfrm>
          <a:prstGeom prst="roundRect">
            <a:avLst/>
          </a:prstGeom>
          <a:solidFill>
            <a:srgbClr val="F1F5F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10B981"/>
                </a:solidFill>
              </a:defRPr>
            </a:pPr>
            <a:r>
              <a:t>FULL LIFECYCLE VISIBILITY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2004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Calibri"/>
              </a:defRPr>
            </a:pPr>
            <a:r>
              <a:t>INSTANT PATIENT ENGAGEMENT</a:t>
            </a:r>
          </a:p>
        </p:txBody>
      </p:sp>
      <p:sp>
        <p:nvSpPr>
          <p:cNvPr id="4" name="TextBox 3"/>
          <p:cNvSpPr txBox="1"/>
          <p:nvPr/>
        </p:nvSpPr>
        <p:spPr>
          <a:xfrm>
            <a:off x="731520" y="868680"/>
            <a:ext cx="10698480" cy="914400"/>
          </a:xfrm>
          <a:prstGeom prst="rect">
            <a:avLst/>
          </a:prstGeom>
          <a:noFill/>
        </p:spPr>
        <p:txBody>
          <a:bodyPr wrap="square" lIns="0" tIns="0" rIns="0" bIns="0">
            <a:spAutoFit/>
          </a:bodyPr>
          <a:lstStyle/>
          <a:p>
            <a:pPr>
              <a:defRPr sz="2200" b="1">
                <a:solidFill>
                  <a:srgbClr val="0F172A"/>
                </a:solidFill>
                <a:latin typeface="Calibri"/>
              </a:defRPr>
            </a:pPr>
            <a:r>
              <a:t>1-Click Direct WhatsApp &amp; Automated Follow-Up Queue</a:t>
            </a:r>
          </a:p>
          <a:p>
            <a:pPr>
              <a:spcBef>
                <a:spcPts val="400"/>
              </a:spcBef>
              <a:defRPr sz="1300">
                <a:solidFill>
                  <a:srgbClr val="64748B"/>
                </a:solidFill>
                <a:latin typeface="Calibri"/>
              </a:defRPr>
            </a:pPr>
            <a:r>
              <a:t>Empowering telecallers to engage warm inquiries immediately without manual dialing delays</a:t>
            </a:r>
          </a:p>
        </p:txBody>
      </p:sp>
      <p:sp>
        <p:nvSpPr>
          <p:cNvPr id="5" name="Rounded Rectangle 4"/>
          <p:cNvSpPr/>
          <p:nvPr/>
        </p:nvSpPr>
        <p:spPr>
          <a:xfrm>
            <a:off x="731520" y="2011680"/>
            <a:ext cx="52578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b="1" sz="1600">
                <a:solidFill>
                  <a:srgbClr val="2563EB"/>
                </a:solidFill>
              </a:defRPr>
            </a:pPr>
            <a:r>
              <a:t>💬 1-Click WhatsApp &amp; Direct Calling</a:t>
            </a:r>
          </a:p>
          <a:p>
            <a:pPr>
              <a:spcBef>
                <a:spcPts val="1200"/>
              </a:spcBef>
              <a:defRPr sz="1200">
                <a:solidFill>
                  <a:srgbClr val="64748B"/>
                </a:solidFill>
              </a:defRPr>
            </a:pPr>
            <a:r>
              <a:t>• No Number Saving Required:</a:t>
            </a:r>
            <a:br/>
            <a:r>
              <a:t>  Staff clicks one button on the patient row to immediately trigger official WhatsApp chat or phone dialer.</a:t>
            </a:r>
            <a:br/>
            <a:br/>
            <a:r>
              <a:t>• Pre-Approved Hospital Templates:</a:t>
            </a:r>
            <a:br/>
            <a:r>
              <a:t>  Send instant welcome messages, hospital location maps, doctor profiles, and appointment confirmations.</a:t>
            </a:r>
            <a:br/>
            <a:br/>
            <a:r>
              <a:t>• Interaction Timeline:</a:t>
            </a:r>
            <a:br/>
            <a:r>
              <a:t>  Every communication attempt, remark, and feedback is recorded on the patient's card with timestamps.</a:t>
            </a:r>
          </a:p>
        </p:txBody>
      </p:sp>
      <p:sp>
        <p:nvSpPr>
          <p:cNvPr id="6" name="Rounded Rectangle 5"/>
          <p:cNvSpPr/>
          <p:nvPr/>
        </p:nvSpPr>
        <p:spPr>
          <a:xfrm>
            <a:off x="6199632" y="2011680"/>
            <a:ext cx="52578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b="1" sz="1600">
                <a:solidFill>
                  <a:srgbClr val="10B981"/>
                </a:solidFill>
              </a:defRPr>
            </a:pPr>
            <a:r>
              <a:t>⏰ Zero-Leakage Follow-Up Queue</a:t>
            </a:r>
          </a:p>
          <a:p>
            <a:pPr>
              <a:spcBef>
                <a:spcPts val="1200"/>
              </a:spcBef>
              <a:defRPr sz="1200">
                <a:solidFill>
                  <a:srgbClr val="64748B"/>
                </a:solidFill>
              </a:defRPr>
            </a:pPr>
            <a:r>
              <a:t>• Daily Pending Calling Dashboard:</a:t>
            </a:r>
            <a:br/>
            <a:r>
              <a:t>  Telecallers start their day with a clear, filtered queue of overdue calls and today's scheduled follow-ups.</a:t>
            </a:r>
            <a:br/>
            <a:br/>
            <a:r>
              <a:t>• Smart Remark Logging:</a:t>
            </a:r>
            <a:br/>
            <a:r>
              <a:t>  Enforces structured call remarks (Remark 1, Remark 2, Doctor preference) to prevent abandoned leads.</a:t>
            </a:r>
            <a:br/>
            <a:br/>
            <a:r>
              <a:t>• High-Speed Patient Response:</a:t>
            </a:r>
            <a:br/>
            <a:r>
              <a:t>  Responding within 10 minutes increases OPD appointment booking rates by up to 300%.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2004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Calibri"/>
              </a:defRPr>
            </a:pPr>
            <a:r>
              <a:t>STRATEGIC MARKETING INSIGHTS</a:t>
            </a:r>
          </a:p>
        </p:txBody>
      </p:sp>
      <p:sp>
        <p:nvSpPr>
          <p:cNvPr id="4" name="TextBox 3"/>
          <p:cNvSpPr txBox="1"/>
          <p:nvPr/>
        </p:nvSpPr>
        <p:spPr>
          <a:xfrm>
            <a:off x="731520" y="868680"/>
            <a:ext cx="10698480" cy="914400"/>
          </a:xfrm>
          <a:prstGeom prst="rect">
            <a:avLst/>
          </a:prstGeom>
          <a:noFill/>
        </p:spPr>
        <p:txBody>
          <a:bodyPr wrap="square" lIns="0" tIns="0" rIns="0" bIns="0">
            <a:spAutoFit/>
          </a:bodyPr>
          <a:lstStyle/>
          <a:p>
            <a:pPr>
              <a:defRPr sz="2200" b="1">
                <a:solidFill>
                  <a:srgbClr val="0F172A"/>
                </a:solidFill>
                <a:latin typeface="Calibri"/>
              </a:defRPr>
            </a:pPr>
            <a:r>
              <a:t>Turning Ad Spend into Measurable Hospital Admissions</a:t>
            </a:r>
          </a:p>
          <a:p>
            <a:pPr>
              <a:spcBef>
                <a:spcPts val="400"/>
              </a:spcBef>
              <a:defRPr sz="1300">
                <a:solidFill>
                  <a:srgbClr val="64748B"/>
                </a:solidFill>
                <a:latin typeface="Calibri"/>
              </a:defRPr>
            </a:pPr>
            <a:r>
              <a:t>Gain complete clarity on which campaigns produce actual patients and where to invest next</a:t>
            </a:r>
          </a:p>
        </p:txBody>
      </p:sp>
      <p:sp>
        <p:nvSpPr>
          <p:cNvPr id="5" name="Rounded Rectangle 4"/>
          <p:cNvSpPr/>
          <p:nvPr/>
        </p:nvSpPr>
        <p:spPr>
          <a:xfrm>
            <a:off x="731520" y="2011680"/>
            <a:ext cx="34290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02920"/>
          <a:lstStyle/>
          <a:p>
            <a:pPr algn="ctr">
              <a:defRPr b="1" sz="1500">
                <a:solidFill>
                  <a:srgbClr val="0F172A"/>
                </a:solidFill>
              </a:defRPr>
            </a:pPr>
            <a:r>
              <a:t>Granular Campaign Tracking</a:t>
            </a:r>
          </a:p>
          <a:p>
            <a:pPr>
              <a:spcBef>
                <a:spcPts val="300"/>
              </a:spcBef>
              <a:defRPr sz="900" b="1">
                <a:solidFill>
                  <a:srgbClr val="0EA5E9"/>
                </a:solidFill>
              </a:defRPr>
            </a:pPr>
            <a:r>
              <a:t>REAL-TIME ATTRIBUTION</a:t>
            </a:r>
          </a:p>
          <a:p>
            <a:pPr>
              <a:spcBef>
                <a:spcPts val="1000"/>
              </a:spcBef>
              <a:defRPr sz="1100">
                <a:solidFill>
                  <a:srgbClr val="64748B"/>
                </a:solidFill>
              </a:defRPr>
            </a:pPr>
            <a:r>
              <a:t>Track every single patient back to the exact Meta Ad campaign, ad set, creative, or offline health camp banner.</a:t>
            </a:r>
            <a:br/>
            <a:br/>
            <a:r>
              <a:t>• Know cost-per-lead by specialty</a:t>
            </a:r>
            <a:br/>
            <a:r>
              <a:t>• Eliminate guesswork in ad agency reports</a:t>
            </a:r>
            <a:br/>
            <a:r>
              <a:t>• Validate real patient inquiries vs bot clicks</a:t>
            </a:r>
          </a:p>
        </p:txBody>
      </p:sp>
      <p:sp>
        <p:nvSpPr>
          <p:cNvPr id="6" name="Rectangle 5"/>
          <p:cNvSpPr/>
          <p:nvPr/>
        </p:nvSpPr>
        <p:spPr>
          <a:xfrm>
            <a:off x="1005840" y="2286000"/>
            <a:ext cx="73152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2011680"/>
            <a:ext cx="34290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02920"/>
          <a:lstStyle/>
          <a:p>
            <a:pPr algn="ctr">
              <a:defRPr b="1" sz="1500">
                <a:solidFill>
                  <a:srgbClr val="0F172A"/>
                </a:solidFill>
              </a:defRPr>
            </a:pPr>
            <a:r>
              <a:t>Specialty Demand Analysis</a:t>
            </a:r>
          </a:p>
          <a:p>
            <a:pPr>
              <a:spcBef>
                <a:spcPts val="300"/>
              </a:spcBef>
              <a:defRPr sz="900" b="1">
                <a:solidFill>
                  <a:srgbClr val="2563EB"/>
                </a:solidFill>
              </a:defRPr>
            </a:pPr>
            <a:r>
              <a:t>DEPARTMENTAL INSIGHTS</a:t>
            </a:r>
          </a:p>
          <a:p>
            <a:pPr>
              <a:spcBef>
                <a:spcPts val="1000"/>
              </a:spcBef>
              <a:defRPr sz="1100">
                <a:solidFill>
                  <a:srgbClr val="64748B"/>
                </a:solidFill>
              </a:defRPr>
            </a:pPr>
            <a:r>
              <a:t>Understand which medical sectors are generating high patient interest across regions.</a:t>
            </a:r>
            <a:br/>
            <a:br/>
            <a:r>
              <a:t>• High conversion: Neuro &amp; Gynae</a:t>
            </a:r>
            <a:br/>
            <a:r>
              <a:t>• High volume: General Health Camps</a:t>
            </a:r>
            <a:br/>
            <a:r>
              <a:t>• Premium inquiries: Luxe Care Suites</a:t>
            </a:r>
            <a:br/>
            <a:r>
              <a:t>• Direct marketing efforts to high-margin treatments</a:t>
            </a:r>
          </a:p>
        </p:txBody>
      </p:sp>
      <p:sp>
        <p:nvSpPr>
          <p:cNvPr id="8" name="Rectangle 7"/>
          <p:cNvSpPr/>
          <p:nvPr/>
        </p:nvSpPr>
        <p:spPr>
          <a:xfrm>
            <a:off x="4663440" y="2286000"/>
            <a:ext cx="73152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0" y="2011680"/>
            <a:ext cx="342900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502920"/>
          <a:lstStyle/>
          <a:p>
            <a:pPr algn="ctr">
              <a:defRPr b="1" sz="1500">
                <a:solidFill>
                  <a:srgbClr val="0F172A"/>
                </a:solidFill>
              </a:defRPr>
            </a:pPr>
            <a:r>
              <a:t>Predictable Month-End Forecasting</a:t>
            </a:r>
          </a:p>
          <a:p>
            <a:pPr>
              <a:spcBef>
                <a:spcPts val="300"/>
              </a:spcBef>
              <a:defRPr sz="900" b="1">
                <a:solidFill>
                  <a:srgbClr val="9333EA"/>
                </a:solidFill>
              </a:defRPr>
            </a:pPr>
            <a:r>
              <a:t>RELIABLE HOSPITAL GROWTH</a:t>
            </a:r>
          </a:p>
          <a:p>
            <a:pPr>
              <a:spcBef>
                <a:spcPts val="1000"/>
              </a:spcBef>
              <a:defRPr sz="1100">
                <a:solidFill>
                  <a:srgbClr val="64748B"/>
                </a:solidFill>
              </a:defRPr>
            </a:pPr>
            <a:r>
              <a:t>Match marketing budget directly against hospital footfall and revenue conversion.</a:t>
            </a:r>
            <a:br/>
            <a:br/>
            <a:r>
              <a:t>• Track conversion ratios: Inquiries ➔ Consultations</a:t>
            </a:r>
            <a:br/>
            <a:r>
              <a:t>• Clear insight on uncontacted leads</a:t>
            </a:r>
            <a:br/>
            <a:r>
              <a:t>• Strategic planning for future medical campaigns</a:t>
            </a:r>
          </a:p>
        </p:txBody>
      </p:sp>
      <p:sp>
        <p:nvSpPr>
          <p:cNvPr id="10" name="Rectangle 9"/>
          <p:cNvSpPr/>
          <p:nvPr/>
        </p:nvSpPr>
        <p:spPr>
          <a:xfrm>
            <a:off x="8321040" y="2286000"/>
            <a:ext cx="731520" cy="73152"/>
          </a:xfrm>
          <a:prstGeom prst="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20040"/>
          </a:xfrm>
          <a:prstGeom prst="round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Calibri"/>
              </a:defRPr>
            </a:pPr>
            <a:r>
              <a:t>COLLABORATIVE HOSPITAL ECOSYSTEM</a:t>
            </a:r>
          </a:p>
        </p:txBody>
      </p:sp>
      <p:sp>
        <p:nvSpPr>
          <p:cNvPr id="4" name="TextBox 3"/>
          <p:cNvSpPr txBox="1"/>
          <p:nvPr/>
        </p:nvSpPr>
        <p:spPr>
          <a:xfrm>
            <a:off x="731520" y="868680"/>
            <a:ext cx="10698480" cy="914400"/>
          </a:xfrm>
          <a:prstGeom prst="rect">
            <a:avLst/>
          </a:prstGeom>
          <a:noFill/>
        </p:spPr>
        <p:txBody>
          <a:bodyPr wrap="square" lIns="0" tIns="0" rIns="0" bIns="0">
            <a:spAutoFit/>
          </a:bodyPr>
          <a:lstStyle/>
          <a:p>
            <a:pPr>
              <a:defRPr sz="2200" b="1">
                <a:solidFill>
                  <a:srgbClr val="0F172A"/>
                </a:solidFill>
                <a:latin typeface="Calibri"/>
              </a:defRPr>
            </a:pPr>
            <a:r>
              <a:t>Tailored Interfaces Designed for Every Role</a:t>
            </a:r>
          </a:p>
          <a:p>
            <a:pPr>
              <a:spcBef>
                <a:spcPts val="400"/>
              </a:spcBef>
              <a:defRPr sz="1300">
                <a:solidFill>
                  <a:srgbClr val="64748B"/>
                </a:solidFill>
                <a:latin typeface="Calibri"/>
              </a:defRPr>
            </a:pPr>
            <a:r>
              <a:t>Ensuring every hospital department has exactly the tools and visibility they need</a:t>
            </a:r>
          </a:p>
        </p:txBody>
      </p:sp>
      <p:sp>
        <p:nvSpPr>
          <p:cNvPr id="5" name="Rounded Rectangle 4"/>
          <p:cNvSpPr/>
          <p:nvPr/>
        </p:nvSpPr>
        <p:spPr>
          <a:xfrm>
            <a:off x="731520" y="2011680"/>
            <a:ext cx="10725912" cy="12618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137160" rIns="274320"/>
          <a:lstStyle/>
          <a:p>
            <a:pPr algn="ctr">
              <a:defRPr b="1" sz="1300">
                <a:solidFill>
                  <a:srgbClr val="0F172A"/>
                </a:solidFill>
              </a:defRPr>
            </a:pPr>
            <a:r>
              <a:t>Executive Leadership &amp; Admin  (Management / Directors)</a:t>
            </a:r>
          </a:p>
          <a:p>
            <a:pPr>
              <a:spcBef>
                <a:spcPts val="300"/>
              </a:spcBef>
              <a:defRPr sz="1050">
                <a:solidFill>
                  <a:srgbClr val="64748B"/>
                </a:solidFill>
              </a:defRPr>
            </a:pPr>
            <a:r>
              <a:t>• Hospital-wide macro performance dashboard</a:t>
            </a:r>
            <a:br/>
            <a:r>
              <a:t>• Real-time lead volume, conversion %, and revenue tracking</a:t>
            </a:r>
            <a:br/>
            <a:r>
              <a:t>• Campaign ROI &amp; agency accountability</a:t>
            </a:r>
            <a:br/>
            <a:r>
              <a:t>• Master settings (Doctors, Departments, Branches, Users)</a:t>
            </a:r>
          </a:p>
        </p:txBody>
      </p:sp>
      <p:sp>
        <p:nvSpPr>
          <p:cNvPr id="6" name="Rectangle 5"/>
          <p:cNvSpPr/>
          <p:nvPr/>
        </p:nvSpPr>
        <p:spPr>
          <a:xfrm>
            <a:off x="731520" y="2011680"/>
            <a:ext cx="109728" cy="12618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3429000"/>
            <a:ext cx="10725912" cy="12618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137160" rIns="274320"/>
          <a:lstStyle/>
          <a:p>
            <a:pPr algn="ctr">
              <a:defRPr b="1" sz="1300">
                <a:solidFill>
                  <a:srgbClr val="2563EB"/>
                </a:solidFill>
              </a:defRPr>
            </a:pPr>
            <a:r>
              <a:t>Telecallers &amp; Front Desk  (Lead Attendants / Reception)</a:t>
            </a:r>
          </a:p>
          <a:p>
            <a:pPr>
              <a:spcBef>
                <a:spcPts val="300"/>
              </a:spcBef>
              <a:defRPr sz="1050">
                <a:solidFill>
                  <a:srgbClr val="64748B"/>
                </a:solidFill>
              </a:defRPr>
            </a:pPr>
            <a:r>
              <a:t>• Clean personal calling queue with priority sorting</a:t>
            </a:r>
            <a:br/>
            <a:r>
              <a:t>• 1-Click WhatsApp greeting &amp; patient outreach</a:t>
            </a:r>
            <a:br/>
            <a:r>
              <a:t>• Structured call remarks &amp; deal status tracking</a:t>
            </a:r>
            <a:br/>
            <a:r>
              <a:t>• Direct OPD appointment booking into doctor calendars</a:t>
            </a:r>
          </a:p>
        </p:txBody>
      </p:sp>
      <p:sp>
        <p:nvSpPr>
          <p:cNvPr id="8" name="Rectangle 7"/>
          <p:cNvSpPr/>
          <p:nvPr/>
        </p:nvSpPr>
        <p:spPr>
          <a:xfrm>
            <a:off x="731520" y="3429000"/>
            <a:ext cx="109728" cy="12618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846320"/>
            <a:ext cx="10725912" cy="12618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tIns="137160" rIns="274320"/>
          <a:lstStyle/>
          <a:p>
            <a:pPr algn="ctr">
              <a:defRPr b="1" sz="1300">
                <a:solidFill>
                  <a:srgbClr val="0EA5E9"/>
                </a:solidFill>
              </a:defRPr>
            </a:pPr>
            <a:r>
              <a:t>Doctors &amp; Consultants  (Specialists / Medical Staff)</a:t>
            </a:r>
          </a:p>
          <a:p>
            <a:pPr>
              <a:spcBef>
                <a:spcPts val="300"/>
              </a:spcBef>
              <a:defRPr sz="1050">
                <a:solidFill>
                  <a:srgbClr val="64748B"/>
                </a:solidFill>
              </a:defRPr>
            </a:pPr>
            <a:r>
              <a:t>• Daily OPD consultation schedule &amp; patient lists</a:t>
            </a:r>
            <a:br/>
            <a:r>
              <a:t>• Real-time visibility into booked appointment slots</a:t>
            </a:r>
            <a:br/>
            <a:r>
              <a:t>• Easy leave scheduling &amp; available hours management</a:t>
            </a:r>
            <a:br/>
            <a:r>
              <a:t>• Patient interaction and referral notes</a:t>
            </a:r>
          </a:p>
        </p:txBody>
      </p:sp>
      <p:sp>
        <p:nvSpPr>
          <p:cNvPr id="10" name="Rectangle 9"/>
          <p:cNvSpPr/>
          <p:nvPr/>
        </p:nvSpPr>
        <p:spPr>
          <a:xfrm>
            <a:off x="731520" y="4846320"/>
            <a:ext cx="109728" cy="126187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57200"/>
            <a:ext cx="2926080" cy="320040"/>
          </a:xfrm>
          <a:prstGeom prst="round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latin typeface="Calibri"/>
              </a:defRPr>
            </a:pPr>
            <a:r>
              <a:t>THE MEASURABLE IMPACT</a:t>
            </a:r>
          </a:p>
        </p:txBody>
      </p:sp>
      <p:sp>
        <p:nvSpPr>
          <p:cNvPr id="4" name="TextBox 3"/>
          <p:cNvSpPr txBox="1"/>
          <p:nvPr/>
        </p:nvSpPr>
        <p:spPr>
          <a:xfrm>
            <a:off x="731520" y="868680"/>
            <a:ext cx="10698480" cy="914400"/>
          </a:xfrm>
          <a:prstGeom prst="rect">
            <a:avLst/>
          </a:prstGeom>
          <a:noFill/>
        </p:spPr>
        <p:txBody>
          <a:bodyPr wrap="square" lIns="0" tIns="0" rIns="0" bIns="0">
            <a:spAutoFit/>
          </a:bodyPr>
          <a:lstStyle/>
          <a:p>
            <a:pPr>
              <a:defRPr sz="2200" b="1">
                <a:solidFill>
                  <a:srgbClr val="F1F5F9"/>
                </a:solidFill>
                <a:latin typeface="Calibri"/>
              </a:defRPr>
            </a:pPr>
            <a:r>
              <a:t>Summary: The Transformation for Nelson Hospital</a:t>
            </a:r>
          </a:p>
          <a:p>
            <a:pPr>
              <a:spcBef>
                <a:spcPts val="400"/>
              </a:spcBef>
              <a:defRPr sz="1300">
                <a:solidFill>
                  <a:srgbClr val="0EA5E9"/>
                </a:solidFill>
                <a:latin typeface="Calibri"/>
              </a:defRPr>
            </a:pPr>
            <a:r>
              <a:t>Moving from manual friction to scalable, modern healthcare operations</a:t>
            </a:r>
          </a:p>
        </p:txBody>
      </p:sp>
      <p:sp>
        <p:nvSpPr>
          <p:cNvPr id="5" name="Rounded Rectangle 4"/>
          <p:cNvSpPr/>
          <p:nvPr/>
        </p:nvSpPr>
        <p:spPr>
          <a:xfrm>
            <a:off x="731520" y="2011680"/>
            <a:ext cx="2542032"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3200">
                <a:solidFill>
                  <a:srgbClr val="10B981"/>
                </a:solidFill>
              </a:defRPr>
            </a:pPr>
            <a:r>
              <a:t>100%</a:t>
            </a:r>
          </a:p>
          <a:p>
            <a:pPr>
              <a:spcBef>
                <a:spcPts val="400"/>
              </a:spcBef>
              <a:defRPr b="1" sz="1300">
                <a:solidFill>
                  <a:srgbClr val="F1F5F9"/>
                </a:solidFill>
              </a:defRPr>
            </a:pPr>
            <a:r>
              <a:t>Captured Leads</a:t>
            </a:r>
          </a:p>
          <a:p>
            <a:pPr>
              <a:spcBef>
                <a:spcPts val="600"/>
              </a:spcBef>
              <a:defRPr sz="1050">
                <a:solidFill>
                  <a:srgbClr val="94A3B8"/>
                </a:solidFill>
              </a:defRPr>
            </a:pPr>
            <a:r>
              <a:t>Zero inquiries lost or missing from Meta Ads &amp; walk-ins</a:t>
            </a:r>
          </a:p>
        </p:txBody>
      </p:sp>
      <p:sp>
        <p:nvSpPr>
          <p:cNvPr id="6" name="Rounded Rectangle 5"/>
          <p:cNvSpPr/>
          <p:nvPr/>
        </p:nvSpPr>
        <p:spPr>
          <a:xfrm>
            <a:off x="3474720" y="2011680"/>
            <a:ext cx="2542032"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3200">
                <a:solidFill>
                  <a:srgbClr val="0EA5E9"/>
                </a:solidFill>
              </a:defRPr>
            </a:pPr>
            <a:r>
              <a:t>3X</a:t>
            </a:r>
          </a:p>
          <a:p>
            <a:pPr>
              <a:spcBef>
                <a:spcPts val="400"/>
              </a:spcBef>
              <a:defRPr b="1" sz="1300">
                <a:solidFill>
                  <a:srgbClr val="F1F5F9"/>
                </a:solidFill>
              </a:defRPr>
            </a:pPr>
            <a:r>
              <a:t>Faster Response</a:t>
            </a:r>
          </a:p>
          <a:p>
            <a:pPr>
              <a:spcBef>
                <a:spcPts val="600"/>
              </a:spcBef>
              <a:defRPr sz="1050">
                <a:solidFill>
                  <a:srgbClr val="94A3B8"/>
                </a:solidFill>
              </a:defRPr>
            </a:pPr>
            <a:r>
              <a:t>Immediate WhatsApp outreach while patient intent is hot</a:t>
            </a:r>
          </a:p>
        </p:txBody>
      </p:sp>
      <p:sp>
        <p:nvSpPr>
          <p:cNvPr id="7" name="Rounded Rectangle 6"/>
          <p:cNvSpPr/>
          <p:nvPr/>
        </p:nvSpPr>
        <p:spPr>
          <a:xfrm>
            <a:off x="6217920" y="2011680"/>
            <a:ext cx="2542032"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3200">
                <a:solidFill>
                  <a:srgbClr val="2563EB"/>
                </a:solidFill>
              </a:defRPr>
            </a:pPr>
            <a:r>
              <a:t>0%</a:t>
            </a:r>
          </a:p>
          <a:p>
            <a:pPr>
              <a:spcBef>
                <a:spcPts val="400"/>
              </a:spcBef>
              <a:defRPr b="1" sz="1300">
                <a:solidFill>
                  <a:srgbClr val="F1F5F9"/>
                </a:solidFill>
              </a:defRPr>
            </a:pPr>
            <a:r>
              <a:t>Forgotten Calls</a:t>
            </a:r>
          </a:p>
          <a:p>
            <a:pPr>
              <a:spcBef>
                <a:spcPts val="600"/>
              </a:spcBef>
              <a:defRPr sz="1050">
                <a:solidFill>
                  <a:srgbClr val="94A3B8"/>
                </a:solidFill>
              </a:defRPr>
            </a:pPr>
            <a:r>
              <a:t>Automated daily follow-up queues for every telecaller</a:t>
            </a:r>
          </a:p>
        </p:txBody>
      </p:sp>
      <p:sp>
        <p:nvSpPr>
          <p:cNvPr id="8" name="Rounded Rectangle 7"/>
          <p:cNvSpPr/>
          <p:nvPr/>
        </p:nvSpPr>
        <p:spPr>
          <a:xfrm>
            <a:off x="8961120" y="2011680"/>
            <a:ext cx="2542032" cy="23774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3200">
                <a:solidFill>
                  <a:srgbClr val="A855F7"/>
                </a:solidFill>
              </a:defRPr>
            </a:pPr>
            <a:r>
              <a:t>Full</a:t>
            </a:r>
          </a:p>
          <a:p>
            <a:pPr>
              <a:spcBef>
                <a:spcPts val="400"/>
              </a:spcBef>
              <a:defRPr b="1" sz="1300">
                <a:solidFill>
                  <a:srgbClr val="F1F5F9"/>
                </a:solidFill>
              </a:defRPr>
            </a:pPr>
            <a:r>
              <a:t>ROI Transparency</a:t>
            </a:r>
          </a:p>
          <a:p>
            <a:pPr>
              <a:spcBef>
                <a:spcPts val="600"/>
              </a:spcBef>
              <a:defRPr sz="1050">
                <a:solidFill>
                  <a:srgbClr val="94A3B8"/>
                </a:solidFill>
              </a:defRPr>
            </a:pPr>
            <a:r>
              <a:t>Clear attribution of marketing budget to admitted patients</a:t>
            </a:r>
          </a:p>
        </p:txBody>
      </p:sp>
      <p:sp>
        <p:nvSpPr>
          <p:cNvPr id="9" name="Rounded Rectangle 8"/>
          <p:cNvSpPr/>
          <p:nvPr/>
        </p:nvSpPr>
        <p:spPr>
          <a:xfrm>
            <a:off x="731520" y="4663440"/>
            <a:ext cx="10725912" cy="146304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365760" tIns="228600" rIns="365760"/>
          <a:lstStyle/>
          <a:p>
            <a:pPr algn="ctr">
              <a:defRPr b="1" sz="1500">
                <a:solidFill>
                  <a:srgbClr val="0EA5E9"/>
                </a:solidFill>
              </a:defRPr>
            </a:pPr>
            <a:r>
              <a:t>Empowering Nelson Hospital for Scalable Growth</a:t>
            </a:r>
          </a:p>
          <a:p>
            <a:pPr>
              <a:spcBef>
                <a:spcPts val="600"/>
              </a:spcBef>
              <a:defRPr sz="1150">
                <a:solidFill>
                  <a:srgbClr val="E2E8F0"/>
                </a:solidFill>
              </a:defRPr>
            </a:pPr>
            <a:r>
              <a:t>With Zappcode CRM, Nelson Hospital eliminates lead leakage, ensures every warm patient is contacted systematically via WhatsApp and phone, and gives management the exact data needed to expand key departments (Neuro, Gynaecology, Luxe Care). Let's build a smarter, patient-first healthcare workflow together!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